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ptx_slide2_Google_Shape_64_p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5775" y="228600"/>
            <a:ext cx="1280160" cy="351363"/>
          </a:xfrm>
          <a:prstGeom prst="rect">
            <a:avLst/>
          </a:prstGeom>
        </p:spPr>
      </p:pic>
      <p:pic>
        <p:nvPicPr>
          <p:cNvPr id="3" name="Picture 2" descr="six_logo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087" y="2011680"/>
            <a:ext cx="2011680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90207" y="182880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0" i="0">
                <a:solidFill>
                  <a:srgbClr val="0F172A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834640"/>
            <a:ext cx="7619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475569"/>
                </a:solidFill>
                <a:latin typeface="Segoe UI"/>
              </a:rPr>
              <a:t>"Intellectuals solve problems, geniuses prevent them."</a:t>
            </a:r>
          </a:p>
          <a:p>
            <a:pPr algn="ctr">
              <a:spcBef>
                <a:spcPts val="800"/>
              </a:spcBef>
            </a:pPr>
            <a:r>
              <a:rPr sz="1300" b="0" i="0">
                <a:solidFill>
                  <a:srgbClr val="94A3B8"/>
                </a:solidFill>
                <a:latin typeface="Segoe UI"/>
              </a:rPr>
              <a:t>— Albert Einstein, probably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5719" y="4206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75569"/>
                </a:solidFill>
                <a:latin typeface="Segoe UI"/>
              </a:rPr>
              <a:t>Boris Goranov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4559" y="4251960"/>
            <a:ext cx="12700" cy="228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90007" y="4206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75569"/>
                </a:solidFill>
                <a:latin typeface="Segoe UI"/>
              </a:rPr>
              <a:t>Hristo Stefanov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8847" y="4251960"/>
            <a:ext cx="12700" cy="2286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94295" y="4206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75569"/>
                </a:solidFill>
                <a:latin typeface="Segoe UI"/>
              </a:rPr>
              <a:t>Nikola Staykov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120640"/>
            <a:ext cx="6705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Segoe UI"/>
              </a:rPr>
              <a:t>SWISSHACKS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"/>
            <a:ext cx="1219169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"/>
            <a:ext cx="4572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"/>
            <a:ext cx="6705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02 / 06 — PROBLEM</a:t>
            </a:r>
          </a:p>
        </p:txBody>
      </p:sp>
      <p:pic>
        <p:nvPicPr>
          <p:cNvPr id="6" name="Picture 5" descr="pptx_slide2_Google_Shape_64_p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91440"/>
            <a:ext cx="1188720" cy="326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00584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102E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1732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F172A"/>
                </a:solidFill>
                <a:latin typeface="Segoe UI"/>
              </a:rPr>
              <a:t>Private banking is personal — </a:t>
            </a:r>
            <a:r>
              <a:rPr sz="3400" b="1" i="1">
                <a:solidFill>
                  <a:srgbClr val="C8102E"/>
                </a:solidFill>
                <a:latin typeface="Segoe UI"/>
              </a:rPr>
              <a:t>but only if you have CHF 50M+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651760"/>
            <a:ext cx="76196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Segoe UI"/>
              </a:rPr>
              <a:t>Ultra-high-net-worth clients get a dedicated RM who knows them deeply.</a:t>
            </a:r>
          </a:p>
          <a:p>
            <a:pPr algn="ctr"/>
            <a:r>
              <a:rPr sz="1500" b="0" i="0">
                <a:solidFill>
                  <a:srgbClr val="475569"/>
                </a:solidFill>
                <a:latin typeface="Segoe UI"/>
              </a:rPr>
              <a:t>Everyone else gets a template.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2367" y="3840480"/>
            <a:ext cx="3108960" cy="8686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0967" y="39776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F172A"/>
                </a:solidFill>
                <a:latin typeface="Segoe UI"/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9607" y="40233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The UHNW privilege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41367" y="3840480"/>
            <a:ext cx="3108960" cy="8686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9967" y="39776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F172A"/>
                </a:solidFill>
                <a:latin typeface="Segoe UI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40233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RMs can't scale intimacy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0367" y="3840480"/>
            <a:ext cx="3108960" cy="8686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8967" y="39776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F172A"/>
                </a:solidFill>
                <a:latin typeface="Segoe UI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607" y="402336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  <a:latin typeface="Segoe UI"/>
              </a:rPr>
              <a:t>Generic service loses clients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"/>
            <a:ext cx="1219169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"/>
            <a:ext cx="4572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"/>
            <a:ext cx="6705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03 / 06 — SOLUTION</a:t>
            </a:r>
          </a:p>
        </p:txBody>
      </p:sp>
      <p:pic>
        <p:nvPicPr>
          <p:cNvPr id="6" name="Picture 5" descr="pptx_slide2_Google_Shape_64_p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91440"/>
            <a:ext cx="1188720" cy="326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77724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6FD6"/>
                </a:solidFill>
                <a:latin typeface="Segoe UI"/>
              </a:rPr>
              <a:t>OUR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09728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F172A"/>
                </a:solidFill>
                <a:latin typeface="Segoe UI"/>
              </a:rPr>
              <a:t>Give </a:t>
            </a:r>
            <a:r>
              <a:rPr sz="3400" b="1" i="1">
                <a:solidFill>
                  <a:srgbClr val="2E6FD6"/>
                </a:solidFill>
                <a:latin typeface="Segoe UI"/>
              </a:rPr>
              <a:t>every client</a:t>
            </a:r>
            <a:r>
              <a:rPr sz="3400" b="1" i="0">
                <a:solidFill>
                  <a:srgbClr val="0F172A"/>
                </a:solidFill>
                <a:latin typeface="Segoe UI"/>
              </a:rPr>
              <a:t> the UHNW</a:t>
            </a:r>
          </a:p>
          <a:p>
            <a:pPr algn="ctr"/>
            <a:r>
              <a:rPr sz="3400" b="1" i="0">
                <a:solidFill>
                  <a:srgbClr val="0F172A"/>
                </a:solidFill>
                <a:latin typeface="Segoe UI"/>
              </a:rPr>
              <a:t>experience — at scale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5367" y="2423160"/>
            <a:ext cx="1645920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● CRM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1287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047" y="2423160"/>
            <a:ext cx="1645920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C8102E"/>
                </a:solidFill>
                <a:latin typeface="Segoe UI"/>
              </a:rPr>
              <a:t>● Client DNA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2967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423160"/>
            <a:ext cx="1645920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7C3AED"/>
                </a:solidFill>
                <a:latin typeface="Segoe UI"/>
              </a:rPr>
              <a:t>● Live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647" y="242316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0407" y="2423160"/>
            <a:ext cx="1645920" cy="320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16A34A"/>
                </a:solidFill>
                <a:latin typeface="Segoe UI"/>
              </a:rPr>
              <a:t>● Personalised Advisory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8067" y="3063240"/>
            <a:ext cx="4937760" cy="10515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162659" y="3246120"/>
            <a:ext cx="411480" cy="41148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>
            <a:solidFill>
              <a:srgbClr val="FE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 i="0">
                <a:solidFill>
                  <a:srgbClr val="0F172A"/>
                </a:solidFill>
                <a:latin typeface="Segoe UI"/>
              </a:rPr>
              <a:t>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3867" y="317296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AI Client DNA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83867" y="3474720"/>
            <a:ext cx="4069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Synthesises CRM history into a living profile — values, risk appetite, life events — in seconds, not decades.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5867" y="3063240"/>
            <a:ext cx="4937760" cy="10515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20459" y="3246120"/>
            <a:ext cx="411480" cy="411480"/>
          </a:xfrm>
          <a:prstGeom prst="roundRect">
            <a:avLst>
              <a:gd name="adj" fmla="val 1500"/>
            </a:avLst>
          </a:prstGeom>
          <a:solidFill>
            <a:srgbClr val="FDF3E4"/>
          </a:solidFill>
          <a:ln>
            <a:solidFill>
              <a:srgbClr val="FDF3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 i="0">
                <a:solidFill>
                  <a:srgbClr val="0F172A"/>
                </a:solidFill>
                <a:latin typeface="Segoe UI"/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1667" y="317296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Conflict &amp; Mandate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1667" y="3474720"/>
            <a:ext cx="4069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Continuously checks every position against personal values and CIO ratings — flags misalignments before they cost trust.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8067" y="4343400"/>
            <a:ext cx="4937760" cy="10515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62659" y="4526280"/>
            <a:ext cx="411480" cy="411480"/>
          </a:xfrm>
          <a:prstGeom prst="roundRect">
            <a:avLst>
              <a:gd name="adj" fmla="val 1500"/>
            </a:avLst>
          </a:prstGeom>
          <a:solidFill>
            <a:srgbClr val="EBF1FB"/>
          </a:solidFill>
          <a:ln>
            <a:solidFill>
              <a:srgbClr val="EBF1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 i="0">
                <a:solidFill>
                  <a:srgbClr val="0F172A"/>
                </a:solidFill>
                <a:latin typeface="Segoe UI"/>
              </a:rPr>
              <a:t>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83867" y="445312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News Scored Per 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83867" y="4754880"/>
            <a:ext cx="4069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Market news ranked by relevance to each client's portfolio and beliefs, not generic asset-class feeds.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4343400"/>
            <a:ext cx="4937760" cy="105156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0459" y="4526280"/>
            <a:ext cx="411480" cy="411480"/>
          </a:xfrm>
          <a:prstGeom prst="roundRect">
            <a:avLst>
              <a:gd name="adj" fmla="val 1500"/>
            </a:avLst>
          </a:prstGeom>
          <a:solidFill>
            <a:srgbClr val="E8F8EE"/>
          </a:solidFill>
          <a:ln>
            <a:solidFill>
              <a:srgbClr val="E8F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0" i="0">
                <a:solidFill>
                  <a:srgbClr val="0F172A"/>
                </a:solidFill>
                <a:latin typeface="Segoe UI"/>
              </a:rPr>
              <a:t>✉️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4453128"/>
            <a:ext cx="4069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Segoe UI"/>
              </a:rPr>
              <a:t>Advisory in One Click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1667" y="4754880"/>
            <a:ext cx="4069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Segoe UI"/>
              </a:rPr>
              <a:t>Tone-matched, context-aware client message in under 5 seconds — outreach that used to take an hour.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"/>
            <a:ext cx="1219169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"/>
            <a:ext cx="4572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"/>
            <a:ext cx="6705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04 / 06 — ARCHITECTURE</a:t>
            </a:r>
          </a:p>
        </p:txBody>
      </p:sp>
      <p:pic>
        <p:nvPicPr>
          <p:cNvPr id="6" name="Picture 5" descr="pptx_slide2_Google_Shape_64_p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91440"/>
            <a:ext cx="1188720" cy="326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77724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102E"/>
                </a:solidFill>
                <a:latin typeface="Segoe U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05156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F172A"/>
                </a:solidFill>
                <a:latin typeface="Segoe UI"/>
              </a:rPr>
              <a:t>One </a:t>
            </a:r>
            <a:r>
              <a:rPr sz="3400" b="1" i="1">
                <a:solidFill>
                  <a:srgbClr val="C8102E"/>
                </a:solidFill>
                <a:latin typeface="Segoe UI"/>
              </a:rPr>
              <a:t>intelligent</a:t>
            </a:r>
            <a:r>
              <a:rPr sz="3400" b="1" i="0">
                <a:solidFill>
                  <a:srgbClr val="0F172A"/>
                </a:solidFill>
                <a:latin typeface="Segoe UI"/>
              </a:rPr>
              <a:t>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69164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75569"/>
                </a:solidFill>
                <a:latin typeface="Segoe UI"/>
              </a:rPr>
              <a:t>Real-time data from SIX Financial &amp; Event Registry, processed by specialised LLM assistants, served through an RM-first interface.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286000"/>
            <a:ext cx="10362895" cy="77724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59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2E6FD6"/>
                </a:solidFill>
                <a:latin typeface="Segoe UI"/>
              </a:rPr>
              <a:t>●</a:t>
            </a:r>
            <a:r>
              <a:rPr sz="1000" b="1" i="0">
                <a:solidFill>
                  <a:srgbClr val="2E6FD6"/>
                </a:solidFill>
                <a:latin typeface="Segoe UI"/>
              </a:rPr>
              <a:t>  DATA 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70048"/>
            <a:ext cx="2020824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SIX Financial 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0984" y="2670048"/>
            <a:ext cx="2258568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Event Registry News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96712" y="2670048"/>
            <a:ext cx="1280160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CRM Notes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14032" y="2670048"/>
            <a:ext cx="1664208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2E6FD6"/>
                </a:solidFill>
                <a:latin typeface="Segoe UI"/>
              </a:rPr>
              <a:t>Portfolio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108960"/>
            <a:ext cx="3047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↓  Live data feeds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429000"/>
            <a:ext cx="3271418" cy="77724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02152"/>
            <a:ext cx="290565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000" b="1" i="0">
                <a:solidFill>
                  <a:srgbClr val="C8102E"/>
                </a:solidFill>
                <a:latin typeface="Segoe UI"/>
              </a:rPr>
              <a:t>  CONFLICT ASSISTANT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3813048"/>
            <a:ext cx="2414015" cy="320040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C8102E"/>
                </a:solidFill>
                <a:latin typeface="Segoe UI"/>
              </a:rPr>
              <a:t>Monitors the portfolio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60138" y="3429000"/>
            <a:ext cx="3271418" cy="77724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3018" y="3502152"/>
            <a:ext cx="290565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000" b="1" i="0">
                <a:solidFill>
                  <a:srgbClr val="C8102E"/>
                </a:solidFill>
                <a:latin typeface="Segoe UI"/>
              </a:rPr>
              <a:t>  MESSAGE ASSISTANT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43018" y="3813048"/>
            <a:ext cx="2743200" cy="320040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C8102E"/>
                </a:solidFill>
                <a:latin typeface="Segoe UI"/>
              </a:rPr>
              <a:t>Drafts the advisory notes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5876" y="3429000"/>
            <a:ext cx="3271418" cy="77724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8756" y="3502152"/>
            <a:ext cx="290565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C8102E"/>
                </a:solidFill>
                <a:latin typeface="Segoe UI"/>
              </a:rPr>
              <a:t>●</a:t>
            </a:r>
            <a:r>
              <a:rPr sz="1000" b="1" i="0">
                <a:solidFill>
                  <a:srgbClr val="C8102E"/>
                </a:solidFill>
                <a:latin typeface="Segoe UI"/>
              </a:rPr>
              <a:t>  CHAT AGENT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8756" y="3813048"/>
            <a:ext cx="2905658" cy="320040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100" b="0" i="0">
                <a:solidFill>
                  <a:srgbClr val="C8102E"/>
                </a:solidFill>
                <a:latin typeface="Segoe UI"/>
              </a:rPr>
              <a:t>Natural language tool use across the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251960"/>
            <a:ext cx="30476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Segoe UI"/>
              </a:rPr>
              <a:t>↓  REST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572000"/>
            <a:ext cx="4974189" cy="105156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4645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16A34A"/>
                </a:solidFill>
                <a:latin typeface="Segoe UI"/>
              </a:rPr>
              <a:t>●</a:t>
            </a:r>
            <a:r>
              <a:rPr sz="1000" b="1" i="0">
                <a:solidFill>
                  <a:srgbClr val="16A34A"/>
                </a:solidFill>
                <a:latin typeface="Segoe UI"/>
              </a:rPr>
              <a:t>  TRUST &amp; COMPLIANCE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4937760"/>
            <a:ext cx="1207007" cy="32004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16A34A"/>
                </a:solidFill>
                <a:latin typeface="Segoe UI"/>
              </a:rPr>
              <a:t>Audit Trail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459736" y="4937760"/>
            <a:ext cx="1536192" cy="32004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16A34A"/>
                </a:solidFill>
                <a:latin typeface="Segoe UI"/>
              </a:rPr>
              <a:t>Explainability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05656" y="4937760"/>
            <a:ext cx="1426464" cy="32004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16A34A"/>
                </a:solidFill>
                <a:latin typeface="Segoe UI"/>
              </a:rPr>
              <a:t>Trace Logging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85232"/>
            <a:ext cx="1828800" cy="32004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16A34A"/>
                </a:solidFill>
                <a:latin typeface="Segoe UI"/>
              </a:rPr>
              <a:t>Spider Graph Scoring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3105" y="4572000"/>
            <a:ext cx="4974189" cy="105156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1705" y="464515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2E6FD6"/>
                </a:solidFill>
                <a:latin typeface="Segoe UI"/>
              </a:rPr>
              <a:t>●</a:t>
            </a:r>
            <a:r>
              <a:rPr sz="1000" b="1" i="0">
                <a:solidFill>
                  <a:srgbClr val="2E6FD6"/>
                </a:solidFill>
                <a:latin typeface="Segoe UI"/>
              </a:rPr>
              <a:t>  RM DASHBOARD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31705" y="4937760"/>
            <a:ext cx="2258568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2E6FD6"/>
                </a:solidFill>
                <a:latin typeface="Segoe UI"/>
              </a:rPr>
              <a:t>Home &amp; Action Items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0001" y="4937760"/>
            <a:ext cx="1901952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2E6FD6"/>
                </a:solidFill>
                <a:latin typeface="Segoe UI"/>
              </a:rPr>
              <a:t>Global News View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31705" y="5285232"/>
            <a:ext cx="1371600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2E6FD6"/>
                </a:solidFill>
                <a:latin typeface="Segoe UI"/>
              </a:rPr>
              <a:t>Client Panels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"/>
            <a:ext cx="1219169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"/>
            <a:ext cx="4572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"/>
            <a:ext cx="6705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05 / 06 — LIVE DEMO</a:t>
            </a:r>
          </a:p>
        </p:txBody>
      </p:sp>
      <p:pic>
        <p:nvPicPr>
          <p:cNvPr id="6" name="Picture 5" descr="pptx_slide2_Google_Shape_64_p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91440"/>
            <a:ext cx="1188720" cy="326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Segoe UI"/>
              </a:rPr>
              <a:t>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F172A"/>
                </a:solidFill>
                <a:latin typeface="Segoe UI"/>
              </a:rPr>
              <a:t>From CRM to advisory </a:t>
            </a:r>
            <a:r>
              <a:rPr sz="3000" b="1" i="1">
                <a:solidFill>
                  <a:srgbClr val="C8102E"/>
                </a:solidFill>
                <a:latin typeface="Segoe UI"/>
              </a:rPr>
              <a:t>in</a:t>
            </a:r>
          </a:p>
          <a:p>
            <a:r>
              <a:rPr sz="3000" b="1" i="1">
                <a:solidFill>
                  <a:srgbClr val="C8102E"/>
                </a:solidFill>
                <a:latin typeface="Segoe UI"/>
              </a:rPr>
              <a:t>15 seconds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75569"/>
                </a:solidFill>
                <a:latin typeface="Segoe UI"/>
              </a:rPr>
              <a:t>Four real Swiss private banking personas. Actual CRM logs. Live SIX financial data. One RM. Zero compromise.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474720"/>
            <a:ext cx="256032" cy="25603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Segoe UI"/>
              </a:rPr>
              <a:t>Select any client — their DNA surfaces instantly from CRM history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858768"/>
            <a:ext cx="256032" cy="25603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58768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Segoe UI"/>
              </a:rPr>
              <a:t>See live conflicts and news matched to their personal values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242816"/>
            <a:ext cx="256032" cy="25603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42816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Segoe UI"/>
              </a:rPr>
              <a:t>Hit Generate Advisory — bespoke message in &lt;5s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626864"/>
            <a:ext cx="256032" cy="25603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26864"/>
            <a:ext cx="49377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Segoe UI"/>
              </a:rPr>
              <a:t>Ask the AI assistant anything — it knows the client cold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3200400" cy="347472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230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6A34A"/>
                </a:solidFill>
                <a:latin typeface="Segoe UI"/>
              </a:rPr>
              <a:t>●  </a:t>
            </a:r>
            <a:r>
              <a:rPr sz="1100" b="0" i="0">
                <a:solidFill>
                  <a:srgbClr val="475569"/>
                </a:solidFill>
                <a:latin typeface="Consolas"/>
              </a:rPr>
              <a:t>wealthadvisor-ai.fly.dev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0"/>
            <a:ext cx="6156655" cy="6858000"/>
          </a:xfrm>
          <a:prstGeom prst="roundRect">
            <a:avLst>
              <a:gd name="adj" fmla="val 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640080"/>
            <a:ext cx="5516575" cy="54864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0" y="640080"/>
            <a:ext cx="5516575" cy="36576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65392" y="749808"/>
            <a:ext cx="118872" cy="11887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766559" y="749808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67728" y="749808"/>
            <a:ext cx="118872" cy="118872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0" y="731520"/>
            <a:ext cx="2560320" cy="1828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76200"/>
          <a:lstStyle/>
          <a:p>
            <a:pPr algn="ctr"/>
            <a:r>
              <a:rPr sz="700" b="0" i="0">
                <a:solidFill>
                  <a:srgbClr val="475569"/>
                </a:solidFill>
                <a:latin typeface="Consolas"/>
              </a:rPr>
              <a:t>wealthadvisor-ai.fly.dev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005840"/>
            <a:ext cx="1371600" cy="512064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05156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pic>
        <p:nvPicPr>
          <p:cNvPr id="29" name="Picture 28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69848"/>
            <a:ext cx="320040" cy="1554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812280" y="105156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37376" y="1335024"/>
            <a:ext cx="1298448" cy="365760"/>
          </a:xfrm>
          <a:prstGeom prst="roundRect">
            <a:avLst>
              <a:gd name="adj" fmla="val 1000"/>
            </a:avLst>
          </a:prstGeom>
          <a:solidFill>
            <a:srgbClr val="FEF7F8"/>
          </a:solidFill>
          <a:ln>
            <a:solidFill>
              <a:srgbClr val="FEF7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0" y="1371600"/>
            <a:ext cx="219456" cy="219456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600" b="1" i="0">
                <a:solidFill>
                  <a:srgbClr val="FFFFFF"/>
                </a:solidFill>
                <a:latin typeface="Segoe UI"/>
              </a:rPr>
              <a:t>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13533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F172A"/>
                </a:solidFill>
                <a:latin typeface="Segoe UI"/>
              </a:rPr>
              <a:t>H. Schneider</a:t>
            </a:r>
          </a:p>
          <a:p>
            <a:pPr algn="l"/>
            <a:r>
              <a:rPr sz="600" b="0" i="0">
                <a:solidFill>
                  <a:srgbClr val="475569"/>
                </a:solidFill>
                <a:latin typeface="Segoe UI"/>
              </a:rPr>
              <a:t>Balanced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1783080"/>
            <a:ext cx="219456" cy="219456"/>
          </a:xfrm>
          <a:prstGeom prst="ellipse">
            <a:avLst/>
          </a:prstGeom>
          <a:solidFill>
            <a:srgbClr val="2E6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600" b="1" i="0">
                <a:solidFill>
                  <a:srgbClr val="FFFFFF"/>
                </a:solidFill>
                <a:latin typeface="Segoe UI"/>
              </a:rPr>
              <a:t>MH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17647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F172A"/>
                </a:solidFill>
                <a:latin typeface="Segoe UI"/>
              </a:rPr>
              <a:t>M. Huber</a:t>
            </a:r>
          </a:p>
          <a:p>
            <a:pPr algn="l"/>
            <a:r>
              <a:rPr sz="600" b="0" i="0">
                <a:solidFill>
                  <a:srgbClr val="475569"/>
                </a:solidFill>
                <a:latin typeface="Segoe UI"/>
              </a:rPr>
              <a:t>Defensive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2194560"/>
            <a:ext cx="219456" cy="219456"/>
          </a:xfrm>
          <a:prstGeom prst="ellipse">
            <a:avLst/>
          </a:prstGeom>
          <a:solidFill>
            <a:srgbClr val="9B0C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600" b="1" i="0">
                <a:solidFill>
                  <a:srgbClr val="FFFFFF"/>
                </a:solidFill>
                <a:latin typeface="Segoe UI"/>
              </a:rPr>
              <a:t>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21762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F172A"/>
                </a:solidFill>
                <a:latin typeface="Segoe UI"/>
              </a:rPr>
              <a:t>E. Räber</a:t>
            </a:r>
          </a:p>
          <a:p>
            <a:pPr algn="l"/>
            <a:r>
              <a:rPr sz="600" b="0" i="0">
                <a:solidFill>
                  <a:srgbClr val="475569"/>
                </a:solidFill>
                <a:latin typeface="Segoe UI"/>
              </a:rPr>
              <a:t>Defensive</a:t>
            </a:r>
          </a:p>
        </p:txBody>
      </p:sp>
      <p:sp>
        <p:nvSpPr>
          <p:cNvPr id="38" name="Oval 37"/>
          <p:cNvSpPr/>
          <p:nvPr/>
        </p:nvSpPr>
        <p:spPr>
          <a:xfrm>
            <a:off x="6492240" y="2606040"/>
            <a:ext cx="219456" cy="219456"/>
          </a:xfrm>
          <a:prstGeom prst="ellipse">
            <a:avLst/>
          </a:prstGeom>
          <a:solidFill>
            <a:srgbClr val="4F8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600" b="1" i="0">
                <a:solidFill>
                  <a:srgbClr val="FFFFFF"/>
                </a:solidFill>
                <a:latin typeface="Segoe UI"/>
              </a:rPr>
              <a:t>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25877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0F172A"/>
                </a:solidFill>
                <a:latin typeface="Segoe UI"/>
              </a:rPr>
              <a:t>J. Ammann</a:t>
            </a:r>
          </a:p>
          <a:p>
            <a:pPr algn="l"/>
            <a:r>
              <a:rPr sz="600" b="0" i="0">
                <a:solidFill>
                  <a:srgbClr val="475569"/>
                </a:solidFill>
                <a:latin typeface="Segoe UI"/>
              </a:rPr>
              <a:t>Growth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55279" y="1097280"/>
            <a:ext cx="3870655" cy="91440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9525">
            <a:solidFill>
              <a:srgbClr val="F0D0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19" y="1143000"/>
            <a:ext cx="3687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1" i="0">
                <a:solidFill>
                  <a:srgbClr val="C8102E"/>
                </a:solidFill>
                <a:latin typeface="Segoe UI"/>
              </a:rPr>
              <a:t>Advisory Draft — </a:t>
            </a:r>
            <a:r>
              <a:rPr sz="700" b="0" i="0">
                <a:solidFill>
                  <a:srgbClr val="475569"/>
                </a:solidFill>
                <a:latin typeface="Segoe UI"/>
              </a:rPr>
              <a:t>Dear Hubertus, the announced shutdown of AstraZeneca's chronic-illness research division directly conflicts with your foundation's mission. We recommend reviewing your exposure and suggest a swap into Roche Holding, CIO BUY-rated and aligned with your values.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55279" y="2103120"/>
            <a:ext cx="3870655" cy="640080"/>
          </a:xfrm>
          <a:prstGeom prst="roundRect">
            <a:avLst>
              <a:gd name="adj" fmla="val 1500"/>
            </a:avLst>
          </a:prstGeom>
          <a:solidFill>
            <a:srgbClr val="F1F5F9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2121408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Segoe UI"/>
              </a:rPr>
              <a:t>CLIENT DNA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19" y="2377440"/>
            <a:ext cx="950976" cy="201168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700" b="0" i="0">
                <a:solidFill>
                  <a:srgbClr val="2E6FD6"/>
                </a:solidFill>
                <a:latin typeface="Segoe UI"/>
              </a:rPr>
              <a:t>health legacy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70847" y="2377440"/>
            <a:ext cx="950976" cy="201168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700" b="0" i="0">
                <a:solidFill>
                  <a:srgbClr val="2E6FD6"/>
                </a:solidFill>
                <a:latin typeface="Segoe UI"/>
              </a:rPr>
              <a:t>ESG alignment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94976" y="2377440"/>
            <a:ext cx="1463040" cy="201168"/>
          </a:xfrm>
          <a:prstGeom prst="roundRect">
            <a:avLst>
              <a:gd name="adj" fmla="val 12000"/>
            </a:avLst>
          </a:prstGeom>
          <a:solidFill>
            <a:srgbClr val="FEF7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700" b="0" i="0">
                <a:solidFill>
                  <a:srgbClr val="C8102E"/>
                </a:solidFill>
                <a:latin typeface="Segoe UI"/>
              </a:rPr>
              <a:t>pharma exposure risk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631167" y="2377440"/>
            <a:ext cx="1243584" cy="201168"/>
          </a:xfrm>
          <a:prstGeom prst="roundRect">
            <a:avLst>
              <a:gd name="adj" fmla="val 12000"/>
            </a:avLst>
          </a:prstGeom>
          <a:solidFill>
            <a:srgbClr val="F1EBFD"/>
          </a:solidFill>
          <a:ln w="952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700" b="0" i="0">
                <a:solidFill>
                  <a:srgbClr val="7C3AED"/>
                </a:solidFill>
                <a:latin typeface="Segoe UI"/>
              </a:rPr>
              <a:t>family foundation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79" y="2834640"/>
            <a:ext cx="3870655" cy="320040"/>
          </a:xfrm>
          <a:prstGeom prst="roundRect">
            <a:avLst>
              <a:gd name="adj" fmla="val 1500"/>
            </a:avLst>
          </a:prstGeom>
          <a:solidFill>
            <a:srgbClr val="FEF7F8"/>
          </a:solidFill>
          <a:ln w="6350">
            <a:solidFill>
              <a:srgbClr val="F0D0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19" y="2852928"/>
            <a:ext cx="3687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B0C23"/>
                </a:solidFill>
                <a:latin typeface="Segoe UI"/>
              </a:rPr>
              <a:t>⚠ Major Pharma Co. shuts chronic-illness research — direct conflict with client DNA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75488"/>
            <a:ext cx="12191695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x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"/>
            <a:ext cx="457200" cy="228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7160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Segoe UI"/>
              </a:rPr>
              <a:t>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55448"/>
            <a:ext cx="6705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06 / 06 — Q&amp;A</a:t>
            </a:r>
          </a:p>
        </p:txBody>
      </p:sp>
      <p:pic>
        <p:nvPicPr>
          <p:cNvPr id="6" name="Picture 5" descr="pptx_slide2_Google_Shape_64_p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91440"/>
            <a:ext cx="1188720" cy="3262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77724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102E"/>
                </a:solidFill>
                <a:latin typeface="Segoe UI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051560"/>
            <a:ext cx="85340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F172A"/>
                </a:solidFill>
                <a:latin typeface="Segoe UI"/>
              </a:rPr>
              <a:t>Questions &amp; </a:t>
            </a:r>
            <a:r>
              <a:rPr sz="3400" b="1" i="1">
                <a:solidFill>
                  <a:srgbClr val="C8102E"/>
                </a:solidFill>
                <a:latin typeface="Segoe UI"/>
              </a:rPr>
              <a:t>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645920"/>
            <a:ext cx="8534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75569"/>
                </a:solidFill>
                <a:latin typeface="Segoe UI"/>
              </a:rPr>
              <a:t>Built in ~24 hours at SwissHacks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2103120"/>
            <a:ext cx="2560320" cy="27432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ri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247" y="2331720"/>
            <a:ext cx="1463040" cy="1463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89607" y="3931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Boris Goranov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4843" y="4297679"/>
            <a:ext cx="1069848" cy="320040"/>
          </a:xfrm>
          <a:prstGeom prst="roundRect">
            <a:avLst>
              <a:gd name="adj" fmla="val 12000"/>
            </a:avLst>
          </a:prstGeom>
          <a:solidFill>
            <a:srgbClr val="EBF1FB"/>
          </a:solidFill>
          <a:ln w="9525">
            <a:solidFill>
              <a:srgbClr val="2E6F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2E6FD6"/>
                </a:solidFill>
                <a:latin typeface="Segoe UI"/>
              </a:rPr>
              <a:t>FRONT-END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15687" y="2103120"/>
            <a:ext cx="2560320" cy="27432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risto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327" y="2331720"/>
            <a:ext cx="1463040" cy="1463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15687" y="3931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Hristo Stefanov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92927" y="4297679"/>
            <a:ext cx="1005840" cy="320040"/>
          </a:xfrm>
          <a:prstGeom prst="roundRect">
            <a:avLst>
              <a:gd name="adj" fmla="val 12000"/>
            </a:avLst>
          </a:prstGeom>
          <a:solidFill>
            <a:srgbClr val="E8F8EE"/>
          </a:solidFill>
          <a:ln w="952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16A34A"/>
                </a:solidFill>
                <a:latin typeface="Segoe UI"/>
              </a:rPr>
              <a:t>BACK-END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41767" y="2103120"/>
            <a:ext cx="2560320" cy="27432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ikola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0407" y="2331720"/>
            <a:ext cx="1463040" cy="1463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41767" y="3931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F172A"/>
                </a:solidFill>
                <a:latin typeface="Segoe UI"/>
              </a:rPr>
              <a:t>Nikola Staykov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19007" y="4297679"/>
            <a:ext cx="1005840" cy="320040"/>
          </a:xfrm>
          <a:prstGeom prst="roundRect">
            <a:avLst>
              <a:gd name="adj" fmla="val 12000"/>
            </a:avLst>
          </a:prstGeom>
          <a:solidFill>
            <a:srgbClr val="FDF3E4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 lIns="76200" rIns="76200" wrap="none"/>
          <a:lstStyle/>
          <a:p>
            <a:pPr algn="ctr"/>
            <a:r>
              <a:rPr sz="1000" b="0" i="0">
                <a:solidFill>
                  <a:srgbClr val="D97706"/>
                </a:solidFill>
                <a:latin typeface="Segoe UI"/>
              </a:rPr>
              <a:t>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120640"/>
            <a:ext cx="85340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Segoe UI"/>
              </a:rPr>
              <a:t>Every client deserves a personal banker. We built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623560"/>
            <a:ext cx="6705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75569"/>
                </a:solidFill>
                <a:latin typeface="Segoe UI"/>
              </a:rPr>
              <a:t>💬  Questions?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6080760"/>
            <a:ext cx="6705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Segoe UI"/>
              </a:rPr>
              <a:t>Powered by SIX Financial Data • SwissHacks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