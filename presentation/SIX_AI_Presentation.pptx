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ptx_slide2_Google_Shape_64_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764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8102E"/>
                </a:solidFill>
                <a:latin typeface="Segoe UI"/>
              </a:rPr>
              <a:t>SIX</a:t>
            </a:r>
            <a:r>
              <a:rPr sz="6000" b="0" i="0">
                <a:solidFill>
                  <a:srgbClr val="0F172A"/>
                </a:solidFill>
                <a:latin typeface="Segoe UI"/>
              </a:rPr>
              <a:t>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534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475569"/>
                </a:solidFill>
                <a:latin typeface="Segoe UI"/>
              </a:rPr>
              <a:t>"Intellectuals solve problems, geniuses prevent them."</a:t>
            </a:r>
          </a:p>
          <a:p>
            <a:pPr algn="ctr">
              <a:spcBef>
                <a:spcPts val="800"/>
              </a:spcBef>
            </a:pPr>
            <a:r>
              <a:rPr sz="1400" b="0" i="0">
                <a:solidFill>
                  <a:srgbClr val="94A3B8"/>
                </a:solidFill>
                <a:latin typeface="Segoe UI"/>
              </a:rPr>
              <a:t>— Albert Einstein, probably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8247" y="4114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75569"/>
                </a:solidFill>
                <a:latin typeface="Segoe UI"/>
              </a:rPr>
              <a:t>Boris Goranov</a:t>
            </a:r>
          </a:p>
        </p:txBody>
      </p:sp>
      <p:sp>
        <p:nvSpPr>
          <p:cNvPr id="6" name="Rectangle 5"/>
          <p:cNvSpPr/>
          <p:nvPr/>
        </p:nvSpPr>
        <p:spPr>
          <a:xfrm>
            <a:off x="4815687" y="4160520"/>
            <a:ext cx="12700" cy="2743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11267" y="4114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75569"/>
                </a:solidFill>
                <a:latin typeface="Segoe UI"/>
              </a:rPr>
              <a:t>Hristo Stefanov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707" y="4160520"/>
            <a:ext cx="12700" cy="2743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4287" y="4114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75569"/>
                </a:solidFill>
                <a:latin typeface="Segoe UI"/>
              </a:rPr>
              <a:t>Nikola Staykov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30352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4A3B8"/>
                </a:solidFill>
                <a:latin typeface="Segoe UI"/>
              </a:rPr>
              <a:t>SWISSHACKS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C8102E"/>
                </a:solidFill>
                <a:latin typeface="Segoe UI"/>
              </a:rPr>
              <a:t>SIX</a:t>
            </a:r>
            <a:r>
              <a:rPr sz="1600" b="0" i="0">
                <a:solidFill>
                  <a:srgbClr val="475569"/>
                </a:solidFill>
                <a:latin typeface="Segoe UI"/>
              </a:rPr>
              <a:t>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82880"/>
            <a:ext cx="4876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02 / 06 — PROBLEM</a:t>
            </a:r>
          </a:p>
        </p:txBody>
      </p:sp>
      <p:pic>
        <p:nvPicPr>
          <p:cNvPr id="5" name="Picture 4" descr="pptx_slide2_Google_Shape_64_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09728"/>
            <a:ext cx="1371600" cy="3764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822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102E"/>
                </a:solidFill>
                <a:latin typeface="Segoe U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F172A"/>
                </a:solidFill>
                <a:latin typeface="Segoe UI"/>
              </a:rPr>
              <a:t>Private banking is personal — </a:t>
            </a:r>
            <a:r>
              <a:rPr sz="3600" b="1" i="1">
                <a:solidFill>
                  <a:srgbClr val="C8102E"/>
                </a:solidFill>
                <a:latin typeface="Segoe UI"/>
              </a:rPr>
              <a:t>but only if you have CHF 50M+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377440"/>
            <a:ext cx="8534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75569"/>
                </a:solidFill>
                <a:latin typeface="Segoe UI"/>
              </a:rPr>
              <a:t>Ultra-high-net-worth clients get a dedicated RM who knows them deeply.
Everyone else gets a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3657600"/>
            <a:ext cx="3291840" cy="9144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2367" y="379476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0F172A"/>
                </a:solidFill>
                <a:latin typeface="Segoe UI"/>
              </a:rPr>
              <a:t>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6727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Segoe UI"/>
              </a:rPr>
              <a:t>The UHNW privilege 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9927" y="3657600"/>
            <a:ext cx="3291840" cy="9144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9967" y="379476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0F172A"/>
                </a:solidFill>
                <a:latin typeface="Segoe UI"/>
              </a:rPr>
              <a:t>⏱️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4327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Segoe UI"/>
              </a:rPr>
              <a:t>RMs can't scale intimacy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3657600"/>
            <a:ext cx="3291840" cy="9144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7567" y="379476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0F172A"/>
                </a:solidFill>
                <a:latin typeface="Segoe UI"/>
              </a:rPr>
              <a:t>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1927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Segoe UI"/>
              </a:rPr>
              <a:t>Generic service loses clients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C8102E"/>
                </a:solidFill>
                <a:latin typeface="Segoe UI"/>
              </a:rPr>
              <a:t>SIX</a:t>
            </a:r>
            <a:r>
              <a:rPr sz="1600" b="0" i="0">
                <a:solidFill>
                  <a:srgbClr val="475569"/>
                </a:solidFill>
                <a:latin typeface="Segoe UI"/>
              </a:rPr>
              <a:t>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82880"/>
            <a:ext cx="4876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03 / 06 — SOLUTION</a:t>
            </a:r>
          </a:p>
        </p:txBody>
      </p:sp>
      <p:pic>
        <p:nvPicPr>
          <p:cNvPr id="5" name="Picture 4" descr="pptx_slide2_Google_Shape_64_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09728"/>
            <a:ext cx="1371600" cy="3764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6FD6"/>
                </a:solidFill>
                <a:latin typeface="Segoe UI"/>
              </a:rPr>
              <a:t>OUR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97280"/>
            <a:ext cx="99971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F172A"/>
                </a:solidFill>
                <a:latin typeface="Segoe UI"/>
              </a:rPr>
              <a:t>Give </a:t>
            </a:r>
            <a:r>
              <a:rPr sz="3600" b="1" i="1">
                <a:solidFill>
                  <a:srgbClr val="2E6FD6"/>
                </a:solidFill>
                <a:latin typeface="Segoe UI"/>
              </a:rPr>
              <a:t>every client</a:t>
            </a:r>
            <a:r>
              <a:rPr sz="3600" b="1" i="0">
                <a:solidFill>
                  <a:srgbClr val="0F172A"/>
                </a:solidFill>
                <a:latin typeface="Segoe UI"/>
              </a:rPr>
              <a:t> the UHNW experience — at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2011680"/>
            <a:ext cx="2011680" cy="36576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300" b="0" i="0">
                <a:solidFill>
                  <a:srgbClr val="2E6FD6"/>
                </a:solidFill>
                <a:latin typeface="Segoe UI"/>
              </a:rPr>
              <a:t>CRM History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367" y="2011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55567" y="2011680"/>
            <a:ext cx="2011680" cy="365760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300" b="0" i="0">
                <a:solidFill>
                  <a:srgbClr val="C8102E"/>
                </a:solidFill>
                <a:latin typeface="Segoe UI"/>
              </a:rPr>
              <a:t>Client DNA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7247" y="2011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2011680"/>
            <a:ext cx="2011680" cy="365760"/>
          </a:xfrm>
          <a:prstGeom prst="roundRect">
            <a:avLst>
              <a:gd name="adj" fmla="val 12000"/>
            </a:avLst>
          </a:prstGeom>
          <a:solidFill>
            <a:srgbClr val="F1EBFD"/>
          </a:solidFill>
          <a:ln w="95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300" b="0" i="0">
                <a:solidFill>
                  <a:srgbClr val="7C3AED"/>
                </a:solidFill>
                <a:latin typeface="Segoe UI"/>
              </a:rPr>
              <a:t>Live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127" y="2011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3327" y="2011680"/>
            <a:ext cx="2011680" cy="365760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300" b="0" i="0">
                <a:solidFill>
                  <a:srgbClr val="16A34A"/>
                </a:solidFill>
                <a:latin typeface="Segoe UI"/>
              </a:rPr>
              <a:t>Personalised Advisory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447" y="2697480"/>
            <a:ext cx="5303520" cy="1143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2327" y="2880360"/>
            <a:ext cx="502920" cy="50292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>
            <a:solidFill>
              <a:srgbClr val="FE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/>
            <a:r>
              <a:rPr sz="1800" b="0" i="0">
                <a:solidFill>
                  <a:srgbClr val="0F172A"/>
                </a:solidFill>
                <a:latin typeface="Segoe UI"/>
              </a:rPr>
              <a:t>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2407" y="28346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AI Client DNA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2407" y="31546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Segoe UI"/>
              </a:rPr>
              <a:t>Synthesises CRM history into a living profile — values, risk appetite, life events — in seconds, not decades.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697480"/>
            <a:ext cx="5303520" cy="1143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61607" y="2880360"/>
            <a:ext cx="502920" cy="502920"/>
          </a:xfrm>
          <a:prstGeom prst="roundRect">
            <a:avLst>
              <a:gd name="adj" fmla="val 1500"/>
            </a:avLst>
          </a:prstGeom>
          <a:solidFill>
            <a:srgbClr val="FDF3E4"/>
          </a:solidFill>
          <a:ln>
            <a:solidFill>
              <a:srgbClr val="FDF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/>
            <a:r>
              <a:rPr sz="1800" b="0" i="0">
                <a:solidFill>
                  <a:srgbClr val="0F172A"/>
                </a:solidFill>
                <a:latin typeface="Segoe U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1687" y="28346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Conflict &amp; Mandate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31546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Segoe UI"/>
              </a:rPr>
              <a:t>Continuously checks every position against personal values and CIO ratings — flags misalignments before they cost trust.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447" y="4114800"/>
            <a:ext cx="5303520" cy="1143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2327" y="4297680"/>
            <a:ext cx="502920" cy="502920"/>
          </a:xfrm>
          <a:prstGeom prst="roundRect">
            <a:avLst>
              <a:gd name="adj" fmla="val 1500"/>
            </a:avLst>
          </a:prstGeom>
          <a:solidFill>
            <a:srgbClr val="EBF1FB"/>
          </a:solidFill>
          <a:ln>
            <a:solidFill>
              <a:srgbClr val="EBF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/>
            <a:r>
              <a:rPr sz="1800" b="0" i="0">
                <a:solidFill>
                  <a:srgbClr val="0F172A"/>
                </a:solidFill>
                <a:latin typeface="Segoe UI"/>
              </a:rPr>
              <a:t>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2407" y="42519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News Scored Per Client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07" y="45720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Segoe UI"/>
              </a:rPr>
              <a:t>Market news ranked by relevance to each client's portfolio and beliefs, not generic asset-class feeds.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8727" y="4114800"/>
            <a:ext cx="5303520" cy="1143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61607" y="4297680"/>
            <a:ext cx="502920" cy="502920"/>
          </a:xfrm>
          <a:prstGeom prst="roundRect">
            <a:avLst>
              <a:gd name="adj" fmla="val 1500"/>
            </a:avLst>
          </a:prstGeom>
          <a:solidFill>
            <a:srgbClr val="E8F8EE"/>
          </a:solidFill>
          <a:ln>
            <a:solidFill>
              <a:srgbClr val="E8F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/>
            <a:r>
              <a:rPr sz="1800" b="0" i="0">
                <a:solidFill>
                  <a:srgbClr val="0F172A"/>
                </a:solidFill>
                <a:latin typeface="Segoe UI"/>
              </a:rPr>
              <a:t>✉️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1687" y="42519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Advisory in One Click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1687" y="45720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Segoe UI"/>
              </a:rPr>
              <a:t>Tone-matched, context-aware client message in under 5 seconds — outreach that used to take an hour.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C8102E"/>
                </a:solidFill>
                <a:latin typeface="Segoe UI"/>
              </a:rPr>
              <a:t>SIX</a:t>
            </a:r>
            <a:r>
              <a:rPr sz="1600" b="0" i="0">
                <a:solidFill>
                  <a:srgbClr val="475569"/>
                </a:solidFill>
                <a:latin typeface="Segoe UI"/>
              </a:rPr>
              <a:t>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82880"/>
            <a:ext cx="4876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04 / 06 — ARCHITECTURE</a:t>
            </a:r>
          </a:p>
        </p:txBody>
      </p:sp>
      <p:pic>
        <p:nvPicPr>
          <p:cNvPr id="5" name="Picture 4" descr="pptx_slide2_Google_Shape_64_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09728"/>
            <a:ext cx="1371600" cy="3764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102E"/>
                </a:solidFill>
                <a:latin typeface="Segoe U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97280"/>
            <a:ext cx="8534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F172A"/>
                </a:solidFill>
                <a:latin typeface="Segoe UI"/>
              </a:rPr>
              <a:t>One </a:t>
            </a:r>
            <a:r>
              <a:rPr sz="3600" b="1" i="1">
                <a:solidFill>
                  <a:srgbClr val="C8102E"/>
                </a:solidFill>
                <a:latin typeface="Segoe UI"/>
              </a:rPr>
              <a:t>intelligent</a:t>
            </a:r>
            <a:r>
              <a:rPr sz="3600" b="1" i="0">
                <a:solidFill>
                  <a:srgbClr val="0F172A"/>
                </a:solidFill>
                <a:latin typeface="Segoe UI"/>
              </a:rPr>
              <a:t>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3736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Segoe UI"/>
              </a:rPr>
              <a:t>Real-time data from SIX Financial &amp; Event Registry, processed by specialised LLM assistants, served through an RM-first interface.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0728655" cy="86868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2E6FD6"/>
                </a:solidFill>
                <a:latin typeface="Segoe UI"/>
              </a:rPr>
              <a:t>●</a:t>
            </a:r>
            <a:r>
              <a:rPr sz="1100" b="1" i="0">
                <a:solidFill>
                  <a:srgbClr val="2E6FD6"/>
                </a:solidFill>
                <a:latin typeface="Segoe UI"/>
              </a:rPr>
              <a:t>  DATA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880360"/>
            <a:ext cx="2176272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200" b="0" i="0">
                <a:solidFill>
                  <a:srgbClr val="2E6FD6"/>
                </a:solidFill>
                <a:latin typeface="Segoe UI"/>
              </a:rPr>
              <a:t>SIX Financial MCP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2880360"/>
            <a:ext cx="2432304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200" b="0" i="0">
                <a:solidFill>
                  <a:srgbClr val="2E6FD6"/>
                </a:solidFill>
                <a:latin typeface="Segoe UI"/>
              </a:rPr>
              <a:t>Event Registry News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2880360"/>
            <a:ext cx="1371600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200" b="0" i="0">
                <a:solidFill>
                  <a:srgbClr val="2E6FD6"/>
                </a:solidFill>
                <a:latin typeface="Segoe UI"/>
              </a:rPr>
              <a:t>CRM Notes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34656" y="2880360"/>
            <a:ext cx="1792224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200" b="0" i="0">
                <a:solidFill>
                  <a:srgbClr val="2E6FD6"/>
                </a:solidFill>
                <a:latin typeface="Segoe UI"/>
              </a:rPr>
              <a:t>Portfolio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047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↓  Live data feeds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749039"/>
            <a:ext cx="3456432" cy="82296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C8102E"/>
                </a:solidFill>
                <a:latin typeface="Segoe UI"/>
              </a:rPr>
              <a:t>●</a:t>
            </a:r>
            <a:r>
              <a:rPr sz="1100" b="1" i="0">
                <a:solidFill>
                  <a:srgbClr val="C8102E"/>
                </a:solidFill>
                <a:latin typeface="Segoe UI"/>
              </a:rPr>
              <a:t>  CONFLICT ASSISTANT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187951"/>
            <a:ext cx="2615184" cy="347472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200" b="0" i="0">
                <a:solidFill>
                  <a:srgbClr val="C8102E"/>
                </a:solidFill>
                <a:latin typeface="Segoe UI"/>
              </a:rPr>
              <a:t>Monitors the portfolio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3749039"/>
            <a:ext cx="3456432" cy="82296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3822191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C8102E"/>
                </a:solidFill>
                <a:latin typeface="Segoe UI"/>
              </a:rPr>
              <a:t>●</a:t>
            </a:r>
            <a:r>
              <a:rPr sz="1100" b="1" i="0">
                <a:solidFill>
                  <a:srgbClr val="C8102E"/>
                </a:solidFill>
                <a:latin typeface="Segoe UI"/>
              </a:rPr>
              <a:t>  MESSAGE ASSISTANT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4187951"/>
            <a:ext cx="2971800" cy="347472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200" b="0" i="0">
                <a:solidFill>
                  <a:srgbClr val="C8102E"/>
                </a:solidFill>
                <a:latin typeface="Segoe UI"/>
              </a:rPr>
              <a:t>Drafts the advisory notes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3749039"/>
            <a:ext cx="3456432" cy="82296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3822191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C8102E"/>
                </a:solidFill>
                <a:latin typeface="Segoe UI"/>
              </a:rPr>
              <a:t>●</a:t>
            </a:r>
            <a:r>
              <a:rPr sz="1100" b="1" i="0">
                <a:solidFill>
                  <a:srgbClr val="C8102E"/>
                </a:solidFill>
                <a:latin typeface="Segoe UI"/>
              </a:rPr>
              <a:t>  CHAT AGENT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93024" y="4187951"/>
            <a:ext cx="3090672" cy="347472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200" b="0" i="0">
                <a:solidFill>
                  <a:srgbClr val="C8102E"/>
                </a:solidFill>
                <a:latin typeface="Segoe UI"/>
              </a:rPr>
              <a:t>Natural language tool use across the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047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↓  REST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029200"/>
            <a:ext cx="5120640" cy="114300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1023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6A34A"/>
                </a:solidFill>
                <a:latin typeface="Segoe UI"/>
              </a:rPr>
              <a:t>●</a:t>
            </a:r>
            <a:r>
              <a:rPr sz="1100" b="1" i="0">
                <a:solidFill>
                  <a:srgbClr val="16A34A"/>
                </a:solidFill>
                <a:latin typeface="Segoe UI"/>
              </a:rPr>
              <a:t>  TRUST &amp; 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5440680"/>
            <a:ext cx="1307592" cy="347472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16A34A"/>
                </a:solidFill>
                <a:latin typeface="Segoe UI"/>
              </a:rPr>
              <a:t>Audit Trail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50592" y="5440680"/>
            <a:ext cx="1664208" cy="347472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16A34A"/>
                </a:solidFill>
                <a:latin typeface="Segoe UI"/>
              </a:rPr>
              <a:t>Explainability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5440680"/>
            <a:ext cx="1545336" cy="347472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16A34A"/>
                </a:solidFill>
                <a:latin typeface="Segoe UI"/>
              </a:rPr>
              <a:t>Trace Logging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" y="5833872"/>
            <a:ext cx="2011680" cy="347472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16A34A"/>
                </a:solidFill>
                <a:latin typeface="Segoe UI"/>
              </a:rPr>
              <a:t>Spider Graph Scoring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029200"/>
            <a:ext cx="5425135" cy="114300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51023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2E6FD6"/>
                </a:solidFill>
                <a:latin typeface="Segoe UI"/>
              </a:rPr>
              <a:t>●</a:t>
            </a:r>
            <a:r>
              <a:rPr sz="1100" b="1" i="0">
                <a:solidFill>
                  <a:srgbClr val="2E6FD6"/>
                </a:solidFill>
                <a:latin typeface="Segoe UI"/>
              </a:rPr>
              <a:t>  RM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5440680"/>
            <a:ext cx="2432304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Home &amp; Action Items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78824" y="5440680"/>
            <a:ext cx="2048256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Global News View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833872"/>
            <a:ext cx="1463040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Client Panels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C8102E"/>
                </a:solidFill>
                <a:latin typeface="Segoe UI"/>
              </a:rPr>
              <a:t>SIX</a:t>
            </a:r>
            <a:r>
              <a:rPr sz="1600" b="0" i="0">
                <a:solidFill>
                  <a:srgbClr val="475569"/>
                </a:solidFill>
                <a:latin typeface="Segoe UI"/>
              </a:rPr>
              <a:t>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82880"/>
            <a:ext cx="4876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05 / 06 — LIVE DEMO</a:t>
            </a:r>
          </a:p>
        </p:txBody>
      </p:sp>
      <p:pic>
        <p:nvPicPr>
          <p:cNvPr id="5" name="Picture 4" descr="pptx_slide2_Google_Shape_64_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09728"/>
            <a:ext cx="1371600" cy="3764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914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102E"/>
                </a:solidFill>
                <a:latin typeface="Segoe UI"/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F172A"/>
                </a:solidFill>
                <a:latin typeface="Segoe UI"/>
              </a:rPr>
              <a:t>From CRM to advisory </a:t>
            </a:r>
            <a:r>
              <a:rPr sz="3200" b="1" i="1">
                <a:solidFill>
                  <a:srgbClr val="C8102E"/>
                </a:solidFill>
                <a:latin typeface="Segoe UI"/>
              </a:rPr>
              <a:t>in 15 seconds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Four real Swiss private banking personas. Actual CRM logs. Live SIX financial data. One RM. Zero compromise.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291840"/>
            <a:ext cx="274320" cy="2743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Segoe UI"/>
              </a:rPr>
              <a:t>Select any client — their DNA surfaces instantly from CRM history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749040"/>
            <a:ext cx="274320" cy="2743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Segoe UI"/>
              </a:rPr>
              <a:t>See live conflicts and news matched to their personal values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206240"/>
            <a:ext cx="274320" cy="2743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Segoe UI"/>
              </a:rPr>
              <a:t>Hit Generate Advisory — bespoke message in &lt;5s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663440"/>
            <a:ext cx="274320" cy="2743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Segoe UI"/>
              </a:rPr>
              <a:t>Ask the AI assistant anything — it knows the client cold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94960"/>
            <a:ext cx="2926080" cy="36576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94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6A34A"/>
                </a:solidFill>
                <a:latin typeface="Segoe UI"/>
              </a:rPr>
              <a:t>●  </a:t>
            </a:r>
            <a:r>
              <a:rPr sz="1200" b="0" i="0">
                <a:solidFill>
                  <a:srgbClr val="475569"/>
                </a:solidFill>
                <a:latin typeface="Consolas"/>
              </a:rPr>
              <a:t>wealthadvisor-ai.fly.dev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0"/>
            <a:ext cx="6156655" cy="685800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0" y="640080"/>
            <a:ext cx="5425135" cy="56692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640080"/>
            <a:ext cx="5425135" cy="41148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0" y="758952"/>
            <a:ext cx="137160" cy="1371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12280" y="758952"/>
            <a:ext cx="137160" cy="1371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40880" y="758952"/>
            <a:ext cx="137160" cy="1371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98080" y="749808"/>
            <a:ext cx="2926080" cy="201168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76200"/>
          <a:lstStyle/>
          <a:p>
            <a:pPr algn="ctr"/>
            <a:r>
              <a:rPr sz="800" b="0" i="0">
                <a:solidFill>
                  <a:srgbClr val="475569"/>
                </a:solidFill>
                <a:latin typeface="Consolas"/>
              </a:rPr>
              <a:t>wealthadvisor-ai.fly.dev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051560"/>
            <a:ext cx="1463040" cy="525780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0972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C8102E"/>
                </a:solidFill>
                <a:latin typeface="Segoe UI"/>
              </a:rPr>
              <a:t>SIX </a:t>
            </a:r>
            <a:r>
              <a:rPr sz="900" b="0" i="0">
                <a:solidFill>
                  <a:srgbClr val="475569"/>
                </a:solidFill>
                <a:latin typeface="Segoe UI"/>
              </a:rPr>
              <a:t>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1417320"/>
            <a:ext cx="1371600" cy="384048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>
            <a:solidFill>
              <a:srgbClr val="FE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0528" y="1463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Segoe UI"/>
              </a:rPr>
              <a:t>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14356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</a:rPr>
              <a:t>H. Schneider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475569"/>
                </a:solidFill>
                <a:latin typeface="Segoe UI"/>
              </a:rPr>
              <a:t>Balanced</a:t>
            </a:r>
          </a:p>
        </p:txBody>
      </p:sp>
      <p:sp>
        <p:nvSpPr>
          <p:cNvPr id="31" name="Oval 30"/>
          <p:cNvSpPr/>
          <p:nvPr/>
        </p:nvSpPr>
        <p:spPr>
          <a:xfrm>
            <a:off x="6510528" y="1920240"/>
            <a:ext cx="237744" cy="237744"/>
          </a:xfrm>
          <a:prstGeom prst="ellipse">
            <a:avLst/>
          </a:prstGeom>
          <a:solidFill>
            <a:srgbClr val="2E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Segoe UI"/>
              </a:rPr>
              <a:t>MH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18928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</a:rPr>
              <a:t>M. Huber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475569"/>
                </a:solidFill>
                <a:latin typeface="Segoe UI"/>
              </a:rPr>
              <a:t>Defensive</a:t>
            </a:r>
          </a:p>
        </p:txBody>
      </p:sp>
      <p:sp>
        <p:nvSpPr>
          <p:cNvPr id="33" name="Oval 32"/>
          <p:cNvSpPr/>
          <p:nvPr/>
        </p:nvSpPr>
        <p:spPr>
          <a:xfrm>
            <a:off x="6510528" y="2377440"/>
            <a:ext cx="237744" cy="237744"/>
          </a:xfrm>
          <a:prstGeom prst="ellipse">
            <a:avLst/>
          </a:prstGeom>
          <a:solidFill>
            <a:srgbClr val="9B0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Segoe UI"/>
              </a:rPr>
              <a:t>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3500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</a:rPr>
              <a:t>E. Räber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475569"/>
                </a:solidFill>
                <a:latin typeface="Segoe UI"/>
              </a:rPr>
              <a:t>Defensive</a:t>
            </a:r>
          </a:p>
        </p:txBody>
      </p:sp>
      <p:sp>
        <p:nvSpPr>
          <p:cNvPr id="35" name="Oval 34"/>
          <p:cNvSpPr/>
          <p:nvPr/>
        </p:nvSpPr>
        <p:spPr>
          <a:xfrm>
            <a:off x="6510528" y="2834640"/>
            <a:ext cx="237744" cy="237744"/>
          </a:xfrm>
          <a:prstGeom prst="ellipse">
            <a:avLst/>
          </a:prstGeom>
          <a:solidFill>
            <a:srgbClr val="4F8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Segoe UI"/>
              </a:rPr>
              <a:t>JA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28072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</a:rPr>
              <a:t>J. Ammann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475569"/>
                </a:solidFill>
                <a:latin typeface="Segoe UI"/>
              </a:rPr>
              <a:t>Growth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1143000"/>
            <a:ext cx="3596335" cy="109728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12700">
            <a:solidFill>
              <a:srgbClr val="F0D0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1188720"/>
            <a:ext cx="3322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C8102E"/>
                </a:solidFill>
                <a:latin typeface="Segoe UI"/>
              </a:rPr>
              <a:t>Advisory Draft — </a:t>
            </a:r>
            <a:r>
              <a:rPr sz="800" b="0" i="0">
                <a:solidFill>
                  <a:srgbClr val="475569"/>
                </a:solidFill>
                <a:latin typeface="Segoe UI"/>
              </a:rPr>
              <a:t>Dear Hubertus, the announced shutdown of AstraZeneca's chronic-illness research division directly conflicts with your foundation's mission. We recommend a swap into Roche Holding.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40" y="2331720"/>
            <a:ext cx="3596335" cy="77724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235915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Segoe UI"/>
              </a:rPr>
              <a:t>CLIENT DNA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0" y="2651760"/>
            <a:ext cx="1188720" cy="25603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800" b="0" i="0">
                <a:solidFill>
                  <a:srgbClr val="2E6FD6"/>
                </a:solidFill>
                <a:latin typeface="Segoe UI"/>
              </a:rPr>
              <a:t>health legacy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2651760"/>
            <a:ext cx="1188720" cy="25603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800" b="0" i="0">
                <a:solidFill>
                  <a:srgbClr val="2E6FD6"/>
                </a:solidFill>
                <a:latin typeface="Segoe UI"/>
              </a:rPr>
              <a:t>ESG alignment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89920" y="2651760"/>
            <a:ext cx="1005840" cy="256032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800" b="0" i="0">
                <a:solidFill>
                  <a:srgbClr val="C8102E"/>
                </a:solidFill>
                <a:latin typeface="Segoe UI"/>
              </a:rPr>
              <a:t>pharma risk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200" y="2651760"/>
            <a:ext cx="1554480" cy="256032"/>
          </a:xfrm>
          <a:prstGeom prst="roundRect">
            <a:avLst>
              <a:gd name="adj" fmla="val 12000"/>
            </a:avLst>
          </a:prstGeom>
          <a:solidFill>
            <a:srgbClr val="F1EBFD"/>
          </a:solidFill>
          <a:ln w="95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800" b="0" i="0">
                <a:solidFill>
                  <a:srgbClr val="7C3AED"/>
                </a:solidFill>
                <a:latin typeface="Segoe UI"/>
              </a:rPr>
              <a:t>family foundation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92440" y="3200400"/>
            <a:ext cx="3596335" cy="45720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12700">
            <a:solidFill>
              <a:srgbClr val="F0D0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3218688"/>
            <a:ext cx="33220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B0C23"/>
                </a:solidFill>
                <a:latin typeface="Segoe UI"/>
              </a:rPr>
              <a:t>⚠ Major Pharma Co. shuts chronic-illness research — direct conflict with client DNA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C8102E"/>
                </a:solidFill>
                <a:latin typeface="Segoe UI"/>
              </a:rPr>
              <a:t>SIX</a:t>
            </a:r>
            <a:r>
              <a:rPr sz="1600" b="0" i="0">
                <a:solidFill>
                  <a:srgbClr val="475569"/>
                </a:solidFill>
                <a:latin typeface="Segoe UI"/>
              </a:rPr>
              <a:t>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82880"/>
            <a:ext cx="4876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06 / 06 — Q&amp;A</a:t>
            </a:r>
          </a:p>
        </p:txBody>
      </p:sp>
      <p:pic>
        <p:nvPicPr>
          <p:cNvPr id="5" name="Picture 4" descr="pptx_slide2_Google_Shape_64_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09728"/>
            <a:ext cx="1371600" cy="3764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102E"/>
                </a:solidFill>
                <a:latin typeface="Segoe UI"/>
              </a:rPr>
              <a:t>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97280"/>
            <a:ext cx="8534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F172A"/>
                </a:solidFill>
                <a:latin typeface="Segoe UI"/>
              </a:rPr>
              <a:t>Questions &amp; </a:t>
            </a:r>
            <a:r>
              <a:rPr sz="3600" b="1" i="1">
                <a:solidFill>
                  <a:srgbClr val="C8102E"/>
                </a:solidFill>
                <a:latin typeface="Segoe UI"/>
              </a:rPr>
              <a:t>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3736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75569"/>
                </a:solidFill>
                <a:latin typeface="Segoe UI"/>
              </a:rPr>
              <a:t>Built in ~24 hours at SwissHacks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49527" y="2286000"/>
            <a:ext cx="2926080" cy="310896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r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607" y="256032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49527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Boris Goranov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36495" y="4754880"/>
            <a:ext cx="1152144" cy="347472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FRONT-END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32807" y="2286000"/>
            <a:ext cx="2926080" cy="310896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rist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2887" y="2560320"/>
            <a:ext cx="1645920" cy="1645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32807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Hristo Stefanov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7207" y="4754880"/>
            <a:ext cx="1097280" cy="347472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16A34A"/>
                </a:solidFill>
                <a:latin typeface="Segoe UI"/>
              </a:rPr>
              <a:t>BACK-END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6087" y="2286000"/>
            <a:ext cx="2926080" cy="310896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ikola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6166" y="2560320"/>
            <a:ext cx="1645920" cy="1645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16087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Nikola Staykov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0487" y="4754880"/>
            <a:ext cx="1097280" cy="347472"/>
          </a:xfrm>
          <a:prstGeom prst="roundRect">
            <a:avLst>
              <a:gd name="adj" fmla="val 12000"/>
            </a:avLst>
          </a:prstGeom>
          <a:solidFill>
            <a:srgbClr val="FDF3E4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101600" rIns="101600" wrap="none"/>
          <a:lstStyle/>
          <a:p>
            <a:pPr algn="ctr"/>
            <a:r>
              <a:rPr sz="1100" b="0" i="0">
                <a:solidFill>
                  <a:srgbClr val="D97706"/>
                </a:solidFill>
                <a:latin typeface="Segoe UI"/>
              </a:rPr>
              <a:t>BUSINESS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62356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Segoe UI"/>
              </a:rPr>
              <a:t>Every client deserves a personal banker. We built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6126480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75569"/>
                </a:solidFill>
                <a:latin typeface="Segoe UI"/>
              </a:rPr>
              <a:t>💬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