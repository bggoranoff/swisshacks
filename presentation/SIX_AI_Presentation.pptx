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  <a:latin typeface="Segoe UI"/>
              </a:rPr>
              <a:t>SIX</a:t>
            </a:r>
            <a:r>
              <a:rPr sz="4800" b="0">
                <a:solidFill>
                  <a:srgbClr val="0F172A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233F"/>
                </a:solidFill>
                <a:latin typeface="Segoe UI"/>
              </a:rPr>
              <a:t>Cursor meets Palantir (for relationship managers)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Boris Goranov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Hristo Stefanov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75569"/>
                </a:solidFill>
                <a:latin typeface="Segoe UI"/>
              </a:rPr>
              <a:t>Nikola Staykov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2926080"/>
            <a:ext cx="12700" cy="411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2926080"/>
            <a:ext cx="12700" cy="411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Segoe UI"/>
              </a:rPr>
              <a:t>SWISSHACKS 2026</a:t>
            </a:r>
          </a:p>
        </p:txBody>
      </p:sp>
      <p:pic>
        <p:nvPicPr>
          <p:cNvPr id="10" name="Picture 9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8600"/>
            <a:ext cx="1097280" cy="3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Segoe UI"/>
              </a:rPr>
              <a:t>SIX</a:t>
            </a:r>
            <a:r>
              <a:rPr sz="1300" b="0">
                <a:solidFill>
                  <a:srgbClr val="475569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Segoe UI"/>
              </a:rPr>
              <a:t>02 / 06  —  Problem</a:t>
            </a:r>
          </a:p>
        </p:txBody>
      </p:sp>
      <p:pic>
        <p:nvPicPr>
          <p:cNvPr id="4" name="Picture 3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1005840" cy="276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Segoe UI"/>
              </a:rPr>
              <a:t>Private banking is personal — </a:t>
            </a:r>
            <a:r>
              <a:rPr sz="2800" b="1">
                <a:solidFill>
                  <a:srgbClr val="C8102E"/>
                </a:solidFill>
                <a:latin typeface="Segoe UI"/>
              </a:rPr>
              <a:t>but only if you have CHF 50M+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Ultra-high-net-worth clients get a dedicated RM who knows them deeply. Everyone else gets a template.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The UHNW privilege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Deep personalisation is reserved for the top 1%. Everyone else gets a template.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5603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RMs can't scale intimacy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50–150 clients per RM. Cross-referencing values, portfolio and news for each is humanly impossible.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560320"/>
            <a:ext cx="2560320" cy="1920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Generic service loses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Clients who feel like a number switch banks. Poor personalisation costs AUM.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Segoe UI"/>
              </a:rPr>
              <a:t>SIX</a:t>
            </a:r>
            <a:r>
              <a:rPr sz="1300" b="0">
                <a:solidFill>
                  <a:srgbClr val="475569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Segoe UI"/>
              </a:rPr>
              <a:t>03 / 06  —  Solution</a:t>
            </a:r>
          </a:p>
        </p:txBody>
      </p:sp>
      <p:pic>
        <p:nvPicPr>
          <p:cNvPr id="4" name="Picture 3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1005840" cy="276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FD6"/>
                </a:solidFill>
                <a:latin typeface="Segoe U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Segoe UI"/>
              </a:rPr>
              <a:t>Give </a:t>
            </a:r>
            <a:r>
              <a:rPr sz="2800" b="1">
                <a:solidFill>
                  <a:srgbClr val="2E6FD6"/>
                </a:solidFill>
                <a:latin typeface="Segoe UI"/>
              </a:rPr>
              <a:t>every client</a:t>
            </a:r>
            <a:r>
              <a:rPr sz="2800" b="1">
                <a:solidFill>
                  <a:srgbClr val="0F172A"/>
                </a:solidFill>
                <a:latin typeface="Segoe UI"/>
              </a:rPr>
              <a:t> the UHNW experience —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CRM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1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74519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C8102E"/>
                </a:solidFill>
                <a:latin typeface="Segoe UI"/>
              </a:rPr>
              <a:t>Client DNA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7451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7C3AED"/>
                </a:solidFill>
                <a:latin typeface="Segoe UI"/>
              </a:rPr>
              <a:t>Live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74519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Personalised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23160"/>
            <a:ext cx="3931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365760" cy="365760"/>
          </a:xfrm>
          <a:prstGeom prst="roundRect">
            <a:avLst>
              <a:gd name="adj" fmla="val 2000"/>
            </a:avLst>
          </a:prstGeom>
          <a:solidFill>
            <a:srgbClr val="FDEEF0"/>
          </a:solidFill>
          <a:ln>
            <a:solidFill>
              <a:srgbClr val="FD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25400"/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AI Client DNA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07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Synthesises CRM history into a living profile — values, risk appetite, life events — in seconds, not decades.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423160"/>
            <a:ext cx="3931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6320" y="2560320"/>
            <a:ext cx="365760" cy="365760"/>
          </a:xfrm>
          <a:prstGeom prst="roundRect">
            <a:avLst>
              <a:gd name="adj" fmla="val 2000"/>
            </a:avLst>
          </a:prstGeom>
          <a:solidFill>
            <a:srgbClr val="FDF3E4"/>
          </a:solidFill>
          <a:ln>
            <a:solidFill>
              <a:srgbClr val="FD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25400"/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Conflict &amp; Mandate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072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Continuously checks every position against personal values and CIO ratings — flags misalignments before they cost trust.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3931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40480"/>
            <a:ext cx="365760" cy="365760"/>
          </a:xfrm>
          <a:prstGeom prst="roundRect">
            <a:avLst>
              <a:gd name="adj" fmla="val 2000"/>
            </a:avLst>
          </a:prstGeom>
          <a:solidFill>
            <a:srgbClr val="EBF1FB"/>
          </a:solidFill>
          <a:ln>
            <a:solidFill>
              <a:srgbClr val="EB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25400"/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News Scored Per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87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Market news ranked by relevance to each client's portfolio and beliefs, not generic asset-class feeds.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703320"/>
            <a:ext cx="3931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46320" y="3840480"/>
            <a:ext cx="365760" cy="365760"/>
          </a:xfrm>
          <a:prstGeom prst="roundRect">
            <a:avLst>
              <a:gd name="adj" fmla="val 2000"/>
            </a:avLst>
          </a:prstGeom>
          <a:solidFill>
            <a:srgbClr val="E8F8EE"/>
          </a:solidFill>
          <a:ln>
            <a:solidFill>
              <a:srgbClr val="E8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25400"/>
          <a:lstStyle/>
          <a:p>
            <a:pPr algn="ctr"/>
            <a:r>
              <a:rPr sz="1400" b="0">
                <a:solidFill>
                  <a:srgbClr val="0F172A"/>
                </a:solidFill>
                <a:latin typeface="Segoe UI"/>
              </a:rPr>
              <a:t>✉️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Advisory in One Click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087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Tone-matched, context-aware client message in under 5 seconds — outreach that used to take an hour.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Segoe UI"/>
              </a:rPr>
              <a:t>SIX</a:t>
            </a:r>
            <a:r>
              <a:rPr sz="1300" b="0">
                <a:solidFill>
                  <a:srgbClr val="475569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Segoe UI"/>
              </a:rPr>
              <a:t>04 / 06  —  Architecture</a:t>
            </a:r>
          </a:p>
        </p:txBody>
      </p:sp>
      <p:pic>
        <p:nvPicPr>
          <p:cNvPr id="4" name="Picture 3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1005840" cy="276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Segoe UI"/>
              </a:rPr>
              <a:t>One </a:t>
            </a:r>
            <a:r>
              <a:rPr sz="2800" b="1">
                <a:solidFill>
                  <a:srgbClr val="C8102E"/>
                </a:solidFill>
                <a:latin typeface="Segoe UI"/>
              </a:rPr>
              <a:t>intelligent</a:t>
            </a:r>
            <a:r>
              <a:rPr sz="2800" b="1">
                <a:solidFill>
                  <a:srgbClr val="0F172A"/>
                </a:solidFill>
                <a:latin typeface="Segoe UI"/>
              </a:rPr>
              <a:t>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Real-time data from SIX Financial &amp; Event Registry, processed by specialised LLM assistants, served through an RM-first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6FD6"/>
                </a:solidFill>
                <a:latin typeface="Segoe UI"/>
              </a:rPr>
              <a:t>● DATA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709928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SIX Financial 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2240280"/>
            <a:ext cx="1911095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Event Registry News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3" y="224028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CRM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3" y="2240280"/>
            <a:ext cx="1408176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Portfolio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↓  Live data feeds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0360"/>
            <a:ext cx="2606040" cy="640080"/>
          </a:xfrm>
          <a:prstGeom prst="roundRect">
            <a:avLst>
              <a:gd name="adj" fmla="val 2000"/>
            </a:avLst>
          </a:prstGeom>
          <a:solidFill>
            <a:srgbClr val="FEF7F8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986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102E"/>
                </a:solidFill>
                <a:latin typeface="Segoe UI"/>
              </a:rPr>
              <a:t>● CONFLICT ASSISTANT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82112"/>
            <a:ext cx="1911095" cy="292608"/>
          </a:xfrm>
          <a:prstGeom prst="roundRect">
            <a:avLst>
              <a:gd name="adj" fmla="val 15000"/>
            </a:avLst>
          </a:prstGeom>
          <a:solidFill>
            <a:srgbClr val="FDEEF0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C8102E"/>
                </a:solidFill>
                <a:latin typeface="Segoe UI"/>
              </a:rPr>
              <a:t>Monitors the portfolio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880360"/>
            <a:ext cx="2606040" cy="640080"/>
          </a:xfrm>
          <a:prstGeom prst="roundRect">
            <a:avLst>
              <a:gd name="adj" fmla="val 2000"/>
            </a:avLst>
          </a:prstGeom>
          <a:solidFill>
            <a:srgbClr val="FEF7F8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8986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102E"/>
                </a:solidFill>
                <a:latin typeface="Segoe UI"/>
              </a:rPr>
              <a:t>● MESSAGE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182112"/>
            <a:ext cx="2171700" cy="292608"/>
          </a:xfrm>
          <a:prstGeom prst="roundRect">
            <a:avLst>
              <a:gd name="adj" fmla="val 15000"/>
            </a:avLst>
          </a:prstGeom>
          <a:solidFill>
            <a:srgbClr val="FDEEF0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C8102E"/>
                </a:solidFill>
                <a:latin typeface="Segoe UI"/>
              </a:rPr>
              <a:t>Drafts the advisory notes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880360"/>
            <a:ext cx="2606040" cy="640080"/>
          </a:xfrm>
          <a:prstGeom prst="roundRect">
            <a:avLst>
              <a:gd name="adj" fmla="val 2000"/>
            </a:avLst>
          </a:prstGeom>
          <a:solidFill>
            <a:srgbClr val="FEF7F8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89864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102E"/>
                </a:solidFill>
                <a:latin typeface="Segoe UI"/>
              </a:rPr>
              <a:t>● CHAT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82112"/>
            <a:ext cx="2331720" cy="292608"/>
          </a:xfrm>
          <a:prstGeom prst="roundRect">
            <a:avLst>
              <a:gd name="adj" fmla="val 15000"/>
            </a:avLst>
          </a:prstGeom>
          <a:solidFill>
            <a:srgbClr val="FDEEF0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C8102E"/>
                </a:solidFill>
                <a:latin typeface="Segoe UI"/>
              </a:rPr>
              <a:t>Natural language tool use across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547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↓  REST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58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Segoe UI"/>
              </a:rPr>
              <a:t>● TRUST &amp;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1005840" cy="292608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Audit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5648" y="4114800"/>
            <a:ext cx="1280160" cy="292608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Explainability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45536" y="411480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Trace Logging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89120"/>
            <a:ext cx="1828800" cy="292608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Spider Graph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858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6FD6"/>
                </a:solidFill>
                <a:latin typeface="Segoe UI"/>
              </a:rPr>
              <a:t>● RM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4114800"/>
            <a:ext cx="1824228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Home &amp; Action Items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0276" y="4114800"/>
            <a:ext cx="1536192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Global News 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26196" y="4114800"/>
            <a:ext cx="1248156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Client Panels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Segoe UI"/>
              </a:rPr>
              <a:t>SIX</a:t>
            </a:r>
            <a:r>
              <a:rPr sz="1300" b="0">
                <a:solidFill>
                  <a:srgbClr val="475569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Segoe UI"/>
              </a:rPr>
              <a:t>05 / 06  —  Live Demo</a:t>
            </a:r>
          </a:p>
        </p:txBody>
      </p:sp>
      <p:pic>
        <p:nvPicPr>
          <p:cNvPr id="4" name="Picture 3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1005840" cy="276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From CRM to advisory </a:t>
            </a:r>
            <a:r>
              <a:rPr sz="2600" b="1">
                <a:solidFill>
                  <a:srgbClr val="C8102E"/>
                </a:solidFill>
                <a:latin typeface="Segoe UI"/>
              </a:rPr>
              <a:t>in 15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Four real Swiss private banking personas. Actual CRM logs. Live SIX financial data. One RM. Zero compromise.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Select any client — their DNA surfaces instantly from CRM history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07792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See live conflicts and news matched to their personal values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55264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Hit Generate Advisory — bespoke message in &lt;5s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02736"/>
            <a:ext cx="228600" cy="22860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Ask the AI assistant anything — it knows the client cold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2286000" cy="3200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Segoe UI"/>
              </a:rPr>
              <a:t>● </a:t>
            </a:r>
            <a:r>
              <a:rPr sz="1000" b="0">
                <a:solidFill>
                  <a:srgbClr val="475569"/>
                </a:solidFill>
                <a:latin typeface="Consolas"/>
              </a:rPr>
              <a:t>wealthadvisor-ai.fly.dev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0"/>
            <a:ext cx="4572000" cy="51435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6320" y="457200"/>
            <a:ext cx="402336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457200"/>
            <a:ext cx="4023360" cy="32004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83480" y="530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66360" y="530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530352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0" y="521207"/>
            <a:ext cx="2286000" cy="182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50800"/>
          <a:lstStyle/>
          <a:p>
            <a:pPr algn="ctr"/>
            <a:r>
              <a:rPr sz="700" b="0">
                <a:solidFill>
                  <a:srgbClr val="475569"/>
                </a:solidFill>
                <a:latin typeface="Consolas"/>
              </a:rPr>
              <a:t>wealthadvisor-ai.fly.dev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777240"/>
            <a:ext cx="1188720" cy="38862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8229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C8102E"/>
                </a:solidFill>
                <a:latin typeface="Segoe UI"/>
              </a:rPr>
              <a:t>SIX </a:t>
            </a:r>
            <a:r>
              <a:rPr sz="800" b="0">
                <a:solidFill>
                  <a:srgbClr val="475569"/>
                </a:solidFill>
                <a:latin typeface="Segoe UI"/>
              </a:rPr>
              <a:t>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1106424"/>
            <a:ext cx="1097280" cy="320040"/>
          </a:xfrm>
          <a:prstGeom prst="roundRect">
            <a:avLst>
              <a:gd name="adj" fmla="val 2000"/>
            </a:avLst>
          </a:prstGeom>
          <a:solidFill>
            <a:srgbClr val="FDEEF0"/>
          </a:solidFill>
          <a:ln>
            <a:solidFill>
              <a:srgbClr val="FD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83480" y="1143000"/>
            <a:ext cx="201168" cy="20116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Segoe UI"/>
              </a:rPr>
              <a:t>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1124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F172A"/>
                </a:solidFill>
                <a:latin typeface="Segoe UI"/>
              </a:rPr>
              <a:t>H. Schneider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75569"/>
                </a:solidFill>
                <a:latin typeface="Segoe UI"/>
              </a:rPr>
              <a:t>Balanced</a:t>
            </a:r>
          </a:p>
        </p:txBody>
      </p:sp>
      <p:sp>
        <p:nvSpPr>
          <p:cNvPr id="30" name="Oval 29"/>
          <p:cNvSpPr/>
          <p:nvPr/>
        </p:nvSpPr>
        <p:spPr>
          <a:xfrm>
            <a:off x="4983480" y="1508760"/>
            <a:ext cx="201168" cy="201168"/>
          </a:xfrm>
          <a:prstGeom prst="ellipse">
            <a:avLst/>
          </a:prstGeom>
          <a:solidFill>
            <a:srgbClr val="2E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Segoe UI"/>
              </a:rPr>
              <a:t>MH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14904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F172A"/>
                </a:solidFill>
                <a:latin typeface="Segoe UI"/>
              </a:rPr>
              <a:t>M. Huber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75569"/>
                </a:solidFill>
                <a:latin typeface="Segoe UI"/>
              </a:rPr>
              <a:t>Defensive</a:t>
            </a:r>
          </a:p>
        </p:txBody>
      </p:sp>
      <p:sp>
        <p:nvSpPr>
          <p:cNvPr id="32" name="Oval 31"/>
          <p:cNvSpPr/>
          <p:nvPr/>
        </p:nvSpPr>
        <p:spPr>
          <a:xfrm>
            <a:off x="4983480" y="1874519"/>
            <a:ext cx="201168" cy="201168"/>
          </a:xfrm>
          <a:prstGeom prst="ellipse">
            <a:avLst/>
          </a:prstGeom>
          <a:solidFill>
            <a:srgbClr val="9B0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Segoe UI"/>
              </a:rPr>
              <a:t>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185623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F172A"/>
                </a:solidFill>
                <a:latin typeface="Segoe UI"/>
              </a:rPr>
              <a:t>E. Räber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75569"/>
                </a:solidFill>
                <a:latin typeface="Segoe UI"/>
              </a:rPr>
              <a:t>Defensive</a:t>
            </a:r>
          </a:p>
        </p:txBody>
      </p:sp>
      <p:sp>
        <p:nvSpPr>
          <p:cNvPr id="34" name="Oval 33"/>
          <p:cNvSpPr/>
          <p:nvPr/>
        </p:nvSpPr>
        <p:spPr>
          <a:xfrm>
            <a:off x="4983480" y="2240280"/>
            <a:ext cx="201168" cy="201168"/>
          </a:xfrm>
          <a:prstGeom prst="ellipse">
            <a:avLst/>
          </a:prstGeom>
          <a:solidFill>
            <a:srgbClr val="4F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Segoe UI"/>
              </a:rPr>
              <a:t>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22219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F172A"/>
                </a:solidFill>
                <a:latin typeface="Segoe UI"/>
              </a:rPr>
              <a:t>J. Ammann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75569"/>
                </a:solidFill>
                <a:latin typeface="Segoe UI"/>
              </a:rPr>
              <a:t>Growth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868680"/>
            <a:ext cx="2560320" cy="1005840"/>
          </a:xfrm>
          <a:prstGeom prst="roundRect">
            <a:avLst>
              <a:gd name="adj" fmla="val 2000"/>
            </a:avLst>
          </a:prstGeom>
          <a:solidFill>
            <a:srgbClr val="FEF9FA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8961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C8102E"/>
                </a:solidFill>
                <a:latin typeface="Segoe UI"/>
              </a:rPr>
              <a:t>Advisory Draft — </a:t>
            </a:r>
            <a:r>
              <a:rPr sz="700" b="0">
                <a:solidFill>
                  <a:srgbClr val="475569"/>
                </a:solidFill>
                <a:latin typeface="Segoe UI"/>
              </a:rPr>
              <a:t>Dear Hubertus, the announced shutdown of AstraZeneca's chronic-illness research division directly conflicts with your foundation's mission. We recommend a swap into Roche Holding.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1965960"/>
            <a:ext cx="256032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9933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8102E"/>
                </a:solidFill>
                <a:latin typeface="Segoe UI"/>
              </a:rPr>
              <a:t>CLIENT DNA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240280"/>
            <a:ext cx="950976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health legacy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87768" y="2240280"/>
            <a:ext cx="950976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ESG alignment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2240280"/>
            <a:ext cx="804672" cy="292608"/>
          </a:xfrm>
          <a:prstGeom prst="roundRect">
            <a:avLst>
              <a:gd name="adj" fmla="val 15000"/>
            </a:avLst>
          </a:prstGeom>
          <a:solidFill>
            <a:srgbClr val="FDEEF0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C8102E"/>
                </a:solidFill>
                <a:latin typeface="Segoe UI"/>
              </a:rPr>
              <a:t>pharma risk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41464" y="2240280"/>
            <a:ext cx="1243584" cy="292608"/>
          </a:xfrm>
          <a:prstGeom prst="roundRect">
            <a:avLst>
              <a:gd name="adj" fmla="val 15000"/>
            </a:avLst>
          </a:prstGeom>
          <a:solidFill>
            <a:srgbClr val="F1EBF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7C3AED"/>
                </a:solidFill>
                <a:latin typeface="Segoe UI"/>
              </a:rPr>
              <a:t>family foundation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697480"/>
            <a:ext cx="2560320" cy="365760"/>
          </a:xfrm>
          <a:prstGeom prst="roundRect">
            <a:avLst>
              <a:gd name="adj" fmla="val 2000"/>
            </a:avLst>
          </a:prstGeom>
          <a:solidFill>
            <a:srgbClr val="FDEEF0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2715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B0C23"/>
                </a:solidFill>
                <a:latin typeface="Segoe UI"/>
              </a:rPr>
              <a:t>⚠ Major Pharma Co. shuts chronic-illness research — direct conflict with client DNA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102E"/>
                </a:solidFill>
                <a:latin typeface="Segoe UI"/>
              </a:rPr>
              <a:t>SIX</a:t>
            </a:r>
            <a:r>
              <a:rPr sz="1300" b="0">
                <a:solidFill>
                  <a:srgbClr val="475569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74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Segoe UI"/>
              </a:rPr>
              <a:t>06 / 06  —  Q&amp;A</a:t>
            </a:r>
          </a:p>
        </p:txBody>
      </p:sp>
      <p:pic>
        <p:nvPicPr>
          <p:cNvPr id="4" name="Picture 3" descr="pptx_slide2_Google_Shape_64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1005840" cy="276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Segoe UI"/>
              </a:rPr>
              <a:t>Questions &amp; </a:t>
            </a:r>
            <a:r>
              <a:rPr sz="2800" b="1">
                <a:solidFill>
                  <a:srgbClr val="C8102E"/>
                </a:solidFill>
                <a:latin typeface="Segoe UI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Built in ~24 hours at SwissHacks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21945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r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1280160" cy="1280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Boris Goranov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7904" y="3886200"/>
            <a:ext cx="987552" cy="292608"/>
          </a:xfrm>
          <a:prstGeom prst="roundRect">
            <a:avLst>
              <a:gd name="adj" fmla="val 15000"/>
            </a:avLst>
          </a:prstGeom>
          <a:solidFill>
            <a:srgbClr val="EBF1FB"/>
          </a:solidFill>
          <a:ln w="9525">
            <a:solidFill>
              <a:srgbClr val="2E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2E6FD6"/>
                </a:solidFill>
                <a:latin typeface="Segoe UI"/>
              </a:rPr>
              <a:t>FRONT-END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65960"/>
            <a:ext cx="21945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rist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148840"/>
            <a:ext cx="128016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472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Hristo Stefanov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886200"/>
            <a:ext cx="914400" cy="292608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16A34A"/>
                </a:solidFill>
                <a:latin typeface="Segoe UI"/>
              </a:rPr>
              <a:t>BACK-END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965960"/>
            <a:ext cx="2194560" cy="2377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ikola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148840"/>
            <a:ext cx="1280160" cy="1280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Nikola Staykov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886200"/>
            <a:ext cx="914400" cy="292608"/>
          </a:xfrm>
          <a:prstGeom prst="roundRect">
            <a:avLst>
              <a:gd name="adj" fmla="val 15000"/>
            </a:avLst>
          </a:prstGeom>
          <a:solidFill>
            <a:srgbClr val="FDF3E4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76200" rIns="76200" wrap="none"/>
          <a:lstStyle/>
          <a:p>
            <a:pPr algn="ctr"/>
            <a:r>
              <a:rPr sz="1000" b="0">
                <a:solidFill>
                  <a:srgbClr val="D97706"/>
                </a:solidFill>
                <a:latin typeface="Segoe UI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Every client deserves a personal banker. We built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75569"/>
                </a:solidFill>
                <a:latin typeface="Segoe UI"/>
              </a:rPr>
              <a:t>💬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